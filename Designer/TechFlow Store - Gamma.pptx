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Roboto" panose="02000000000000000000" pitchFamily="2" charset="0"/>
      <p:regular r:id="rId11"/>
    </p:embeddedFont>
    <p:embeddedFont>
      <p:font typeface="Roboto Medium" panose="020F0502020204030204" pitchFamily="2" charset="0"/>
      <p:regular r:id="rId12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10"/>
  </p:normalViewPr>
  <p:slideViewPr>
    <p:cSldViewPr snapToGrid="0" snapToObjects="1">
      <p:cViewPr>
        <p:scale>
          <a:sx n="76" d="100"/>
          <a:sy n="76" d="100"/>
        </p:scale>
        <p:origin x="130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068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11" Type="http://schemas.openxmlformats.org/officeDocument/2006/relationships/image" Target="../media/image27.svg"/><Relationship Id="rId5" Type="http://schemas.openxmlformats.org/officeDocument/2006/relationships/image" Target="../media/image21.sv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TechFlow Store: Do Achismo à Decisão em Tempo Real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Uma proposta de transformação com </a:t>
            </a:r>
            <a:r>
              <a:rPr lang="en-US" sz="1750" b="1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Dashboards Automatizados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porque cada decisão importa e o tempo certo faz toda a diferença.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961090"/>
            <a:ext cx="84189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Decisões no Escuro Custam Caro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010031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763310" y="5010031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1142524" y="52673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Dados fragmentados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2524" y="5757743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Informações espalhadas em planilhas e sistemas isolados, sem visão consolidada.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5010031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5186482" y="5010031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5565696" y="52673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Horas desperdiçadas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565696" y="5757743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Tempo valioso consumido na consolidação manual de relatórios que chegam tarde demais.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9640133" y="5010031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9609653" y="5010031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9988868" y="52673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Decisões por intuição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9988868" y="5757743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 dados confiáveis em mãos, gestores agem no escuro e o risco é real.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65" y="1746766"/>
            <a:ext cx="8357711" cy="473594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631561" y="1054656"/>
            <a:ext cx="1143833" cy="392549"/>
          </a:xfrm>
          <a:prstGeom prst="roundRect">
            <a:avLst>
              <a:gd name="adj" fmla="val 18249"/>
            </a:avLst>
          </a:prstGeom>
          <a:solidFill>
            <a:srgbClr val="0F16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9759434" y="1118592"/>
            <a:ext cx="888087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CASO REAL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631561" y="1527334"/>
            <a:ext cx="4260175" cy="2665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Quando os Dados Atrasam, o Dinheiro Vai Embora</a:t>
            </a:r>
            <a:endParaRPr lang="en-US" sz="4150" dirty="0"/>
          </a:p>
        </p:txBody>
      </p:sp>
      <p:sp>
        <p:nvSpPr>
          <p:cNvPr id="6" name="Text 3"/>
          <p:cNvSpPr/>
          <p:nvPr/>
        </p:nvSpPr>
        <p:spPr>
          <a:xfrm>
            <a:off x="9631561" y="4392811"/>
            <a:ext cx="4260175" cy="1323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queda nas vendas de tablets </a:t>
            </a:r>
            <a:r>
              <a:rPr lang="en-US" sz="16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não foi identificada a tempo</a:t>
            </a: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O prejuízo já estava acontecendo enquanto os relatórios ainda eram consolidados manualmente.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9631561" y="5896570"/>
            <a:ext cx="4260175" cy="1323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 visibilidade antecipada, a reação seria imediata. </a:t>
            </a:r>
            <a:r>
              <a:rPr lang="en-US" sz="1650" b="1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dia sem dado atualizado é um dia de risco desnecessário</a:t>
            </a: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 de oportunidade perdida.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50908" y="492681"/>
            <a:ext cx="5878235" cy="522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 Processo Manual É o Gargalo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042" y="1260872"/>
            <a:ext cx="6726079" cy="5757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98247" y="2986868"/>
            <a:ext cx="2593836" cy="324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Consolidação Manual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020100" y="2628774"/>
            <a:ext cx="2259520" cy="648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Sem Visão Unificada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901868" y="5326364"/>
            <a:ext cx="1959788" cy="648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Informação Fragmentada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550908" y="7156847"/>
            <a:ext cx="11528465" cy="580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ausência de uma visão integrada não é um problema de pessoas  é um problema de processo. Enquanto a consolidação for manual, os erros e atrasos são inevitáveis.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5685" y="1127284"/>
            <a:ext cx="7712631" cy="1278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Dashboard Automatizado: Visão Total, Sempre Atualizada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15685" y="2681764"/>
            <a:ext cx="3764161" cy="2273498"/>
          </a:xfrm>
          <a:prstGeom prst="roundRect">
            <a:avLst>
              <a:gd name="adj" fmla="val 3778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927735" y="2893814"/>
            <a:ext cx="613410" cy="613410"/>
          </a:xfrm>
          <a:prstGeom prst="roundRect">
            <a:avLst>
              <a:gd name="adj" fmla="val 14905342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6447" y="3062526"/>
            <a:ext cx="275987" cy="27598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7735" y="3691533"/>
            <a:ext cx="2556034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Fontes Integradas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927735" y="4121468"/>
            <a:ext cx="3340060" cy="62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Todos os dados em um único lugar, sem esforço manual.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664154" y="2681764"/>
            <a:ext cx="3764161" cy="2273498"/>
          </a:xfrm>
          <a:prstGeom prst="roundRect">
            <a:avLst>
              <a:gd name="adj" fmla="val 3778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6"/>
          <p:cNvSpPr/>
          <p:nvPr/>
        </p:nvSpPr>
        <p:spPr>
          <a:xfrm>
            <a:off x="4876205" y="2893814"/>
            <a:ext cx="613410" cy="613410"/>
          </a:xfrm>
          <a:prstGeom prst="roundRect">
            <a:avLst>
              <a:gd name="adj" fmla="val 14905342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44916" y="3062526"/>
            <a:ext cx="275987" cy="27598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76205" y="3691533"/>
            <a:ext cx="2556034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Tempo Real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4876205" y="4121468"/>
            <a:ext cx="3340060" cy="62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Atualização automática contínua, sem esperar relatórios.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715685" y="5139571"/>
            <a:ext cx="7712631" cy="1962626"/>
          </a:xfrm>
          <a:prstGeom prst="roundRect">
            <a:avLst>
              <a:gd name="adj" fmla="val 4376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0"/>
          <p:cNvSpPr/>
          <p:nvPr/>
        </p:nvSpPr>
        <p:spPr>
          <a:xfrm>
            <a:off x="927735" y="5351621"/>
            <a:ext cx="613410" cy="613410"/>
          </a:xfrm>
          <a:prstGeom prst="roundRect">
            <a:avLst>
              <a:gd name="adj" fmla="val 14905342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6447" y="5520333"/>
            <a:ext cx="275987" cy="27598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27735" y="6149340"/>
            <a:ext cx="2556034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Metas e Equipes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927735" y="6579275"/>
            <a:ext cx="7288530" cy="31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Acompanhe vendedores, categorias e resultados lado a lado.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65684" y="713065"/>
            <a:ext cx="4093726" cy="511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 Diferença na Prática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684" y="1534954"/>
            <a:ext cx="3954780" cy="39547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5684" y="5622727"/>
            <a:ext cx="2046803" cy="255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🔴</a:t>
            </a:r>
            <a:r>
              <a:rPr lang="en-US" sz="1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Antes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665684" y="5996583"/>
            <a:ext cx="5449729" cy="1025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Horas consolidando dados manualmente</a:t>
            </a:r>
            <a:endParaRPr lang="en-US" sz="125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Relatório semanal sempre atrasado</a:t>
            </a:r>
            <a:endParaRPr lang="en-US" sz="125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Queda de vendas percebida tarde</a:t>
            </a:r>
            <a:endParaRPr lang="en-US" sz="125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Decisão baseada em intuição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2369" y="1534954"/>
            <a:ext cx="3992642" cy="39926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2369" y="5660588"/>
            <a:ext cx="2046803" cy="255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🟢</a:t>
            </a:r>
            <a:r>
              <a:rPr lang="en-US" sz="1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Depois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522369" y="6034445"/>
            <a:ext cx="5449729" cy="1025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Dados prontos ao abrir o sistema</a:t>
            </a:r>
            <a:endParaRPr lang="en-US" sz="125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Visão atualizada em tempo real</a:t>
            </a:r>
            <a:endParaRPr lang="en-US" sz="125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Alerta imediato de variações</a:t>
            </a:r>
            <a:endParaRPr lang="en-US" sz="125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Decisão orientada por dados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665684" y="7234714"/>
            <a:ext cx="11298912" cy="281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transformação não é apenas tecnológica é uma mudança na </a:t>
            </a:r>
            <a:r>
              <a:rPr lang="en-US" sz="1600" b="1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cultura de decisão</a:t>
            </a: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da TechFlow Store.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9127" y="2045851"/>
            <a:ext cx="7302103" cy="413777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303663" y="1317069"/>
            <a:ext cx="1457206" cy="283369"/>
          </a:xfrm>
          <a:prstGeom prst="roundRect">
            <a:avLst>
              <a:gd name="adj" fmla="val 19680"/>
            </a:avLst>
          </a:prstGeom>
          <a:solidFill>
            <a:srgbClr val="0F16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9403199" y="1366838"/>
            <a:ext cx="1258133" cy="183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IMPACTO ESPERADO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303663" y="1648897"/>
            <a:ext cx="3744992" cy="1037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 Que Você Ganha com Isso</a:t>
            </a:r>
            <a:endParaRPr lang="en-US" sz="3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65933" y="2827853"/>
            <a:ext cx="248841" cy="24884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842897" y="2822734"/>
            <a:ext cx="2543175" cy="259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Mais tempo para estratégia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9842897" y="3203258"/>
            <a:ext cx="3205758" cy="459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Menos horas operacionais, mais foco no que gera valor.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65933" y="3910965"/>
            <a:ext cx="248841" cy="24884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842897" y="3905845"/>
            <a:ext cx="2216468" cy="259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Reação rápida a quedas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9842897" y="4286369"/>
            <a:ext cx="3205758" cy="459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Identifique e corrija desvios antes que causem prejuízo.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65933" y="4994077"/>
            <a:ext cx="248841" cy="24884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842897" y="4988957"/>
            <a:ext cx="3182183" cy="259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Controle total da equipe comercial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9842897" y="5369481"/>
            <a:ext cx="3205758" cy="459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Metas, desempenho e categorias sempre visíveis.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65933" y="6077188"/>
            <a:ext cx="248841" cy="24884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842897" y="6072068"/>
            <a:ext cx="2074545" cy="259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Cultura de dados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9842897" y="6452592"/>
            <a:ext cx="3205758" cy="459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Decisões embasadas que fortalecem a liderança.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5685" y="926902"/>
            <a:ext cx="7623453" cy="639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Pronto para Decidir com Clareza?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15685" y="1842373"/>
            <a:ext cx="817840" cy="1226820"/>
          </a:xfrm>
          <a:prstGeom prst="roundRect">
            <a:avLst>
              <a:gd name="adj" fmla="val 360046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1193" y="2302431"/>
            <a:ext cx="306705" cy="30670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17834" y="2046803"/>
            <a:ext cx="2556034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Aprovação e Escopo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1717834" y="2476738"/>
            <a:ext cx="6710482" cy="31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Alinhamento do projeto e definição das prioridades.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715685" y="3253502"/>
            <a:ext cx="817840" cy="1226820"/>
          </a:xfrm>
          <a:prstGeom prst="roundRect">
            <a:avLst>
              <a:gd name="adj" fmla="val 360046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1193" y="3713559"/>
            <a:ext cx="306705" cy="3067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717834" y="3457932"/>
            <a:ext cx="2556034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Integração de Dados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1717834" y="3887867"/>
            <a:ext cx="6710482" cy="31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Conexão de todas as fontes existentes à plataforma.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715685" y="4664631"/>
            <a:ext cx="817840" cy="1226820"/>
          </a:xfrm>
          <a:prstGeom prst="roundRect">
            <a:avLst>
              <a:gd name="adj" fmla="val 360046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1193" y="5124688"/>
            <a:ext cx="306705" cy="30670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717834" y="4869061"/>
            <a:ext cx="3125986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Implantação e Treinamento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1717834" y="5298996"/>
            <a:ext cx="6710482" cy="31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Onboarding da equipe com suporte dedicado.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715685" y="6075759"/>
            <a:ext cx="817840" cy="1226820"/>
          </a:xfrm>
          <a:prstGeom prst="roundRect">
            <a:avLst>
              <a:gd name="adj" fmla="val 360046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71193" y="6535817"/>
            <a:ext cx="306705" cy="30670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717834" y="6280190"/>
            <a:ext cx="2556034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Primeiros Resultados</a:t>
            </a:r>
            <a:endParaRPr lang="en-US" sz="2000" dirty="0"/>
          </a:p>
        </p:txBody>
      </p:sp>
      <p:sp>
        <p:nvSpPr>
          <p:cNvPr id="19" name="Text 12"/>
          <p:cNvSpPr/>
          <p:nvPr/>
        </p:nvSpPr>
        <p:spPr>
          <a:xfrm>
            <a:off x="1717834" y="6710124"/>
            <a:ext cx="6710482" cy="31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Visibilidade real em poucas semanas após o início.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412</Words>
  <Application>Microsoft Office PowerPoint</Application>
  <PresentationFormat>Personalizar</PresentationFormat>
  <Paragraphs>64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Roboto Medium</vt:lpstr>
      <vt:lpstr>Arial</vt:lpstr>
      <vt:lpstr>Roboto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Gu</dc:creator>
  <cp:lastModifiedBy>Jefferson Miranda</cp:lastModifiedBy>
  <cp:revision>2</cp:revision>
  <dcterms:created xsi:type="dcterms:W3CDTF">2026-02-19T17:59:54Z</dcterms:created>
  <dcterms:modified xsi:type="dcterms:W3CDTF">2026-02-19T19:37:04Z</dcterms:modified>
</cp:coreProperties>
</file>