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520991"/>
            <a:ext cx="1063358" cy="269677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520991"/>
            <a:ext cx="1063358" cy="269677"/>
          </a:xfrm>
          <a:prstGeom prst="rect">
            <a:avLst/>
          </a:prstGeom>
          <a:noFill/>
          <a:ln/>
        </p:spPr>
        <p:txBody>
          <a:bodyPr wrap="square" lIns="136017" tIns="68072" rIns="136017" bIns="68072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TechFlow Store</a:t>
            </a:r>
            <a:endParaRPr lang="en-US" sz="784" dirty="0"/>
          </a:p>
        </p:txBody>
      </p:sp>
      <p:sp>
        <p:nvSpPr>
          <p:cNvPr id="5" name="Text 2"/>
          <p:cNvSpPr/>
          <p:nvPr/>
        </p:nvSpPr>
        <p:spPr>
          <a:xfrm>
            <a:off x="428625" y="933543"/>
            <a:ext cx="3964781" cy="1760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E293B"/>
                </a:solidFill>
              </a:rPr>
              <a:t>Dashboards 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E293B"/>
                </a:solidFill>
              </a:rPr>
              <a:t>Automatizados: 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6366F1"/>
                </a:solidFill>
              </a:rPr>
              <a:t>Decisão Rápida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E293B"/>
                </a:solidFill>
              </a:rPr>
              <a:t>, </a:t>
            </a:r>
            <a:pPr algn="l" indent="0" marL="0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1E293B"/>
                </a:solidFill>
              </a:rPr>
              <a:t>Lucro Protegido</a:t>
            </a:r>
            <a:endParaRPr lang="en-US" sz="2862" dirty="0"/>
          </a:p>
        </p:txBody>
      </p:sp>
      <p:sp>
        <p:nvSpPr>
          <p:cNvPr id="6" name="Shape 3"/>
          <p:cNvSpPr/>
          <p:nvPr/>
        </p:nvSpPr>
        <p:spPr>
          <a:xfrm>
            <a:off x="428625" y="2908009"/>
            <a:ext cx="3964781" cy="171450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28625" y="2908009"/>
            <a:ext cx="42863" cy="171450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8" y="3272340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8681" y="3122321"/>
            <a:ext cx="33004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75569"/>
                </a:solidFill>
              </a:rPr>
              <a:t>Proposta de transformação da gestão de dados</a:t>
            </a:r>
            <a:endParaRPr lang="en-US" sz="1159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3808121"/>
            <a:ext cx="128588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8681" y="3658102"/>
            <a:ext cx="330041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75569"/>
                </a:solidFill>
              </a:rPr>
              <a:t>Da operação manual para inteligência em tempo real</a:t>
            </a:r>
            <a:endParaRPr lang="en-US" sz="1159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4236746"/>
            <a:ext cx="144661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4755" y="4193884"/>
            <a:ext cx="194050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59" dirty="0">
                <a:solidFill>
                  <a:srgbClr val="475569"/>
                </a:solidFill>
              </a:rPr>
              <a:t>Visão orientada por dados</a:t>
            </a:r>
            <a:endParaRPr lang="en-US" sz="1159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0594" y="607219"/>
            <a:ext cx="3964781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607219"/>
            <a:ext cx="3929063" cy="39290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6313" y="663671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366F1"/>
                </a:solidFill>
              </a:rPr>
              <a:t>O Cenário Atual</a:t>
            </a:r>
            <a:endParaRPr lang="en-US" sz="885" dirty="0"/>
          </a:p>
        </p:txBody>
      </p:sp>
      <p:sp>
        <p:nvSpPr>
          <p:cNvPr id="5" name="Text 1"/>
          <p:cNvSpPr/>
          <p:nvPr/>
        </p:nvSpPr>
        <p:spPr>
          <a:xfrm>
            <a:off x="4786313" y="910130"/>
            <a:ext cx="392906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</a:rPr>
              <a:t>Hoje: Decidir Dá Trabalho</a:t>
            </a:r>
            <a:endParaRPr lang="en-US" sz="2436" dirty="0"/>
          </a:p>
        </p:txBody>
      </p:sp>
      <p:sp>
        <p:nvSpPr>
          <p:cNvPr id="6" name="Shape 2"/>
          <p:cNvSpPr/>
          <p:nvPr/>
        </p:nvSpPr>
        <p:spPr>
          <a:xfrm>
            <a:off x="4786313" y="2018807"/>
            <a:ext cx="3929063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3"/>
          <p:cNvSpPr/>
          <p:nvPr/>
        </p:nvSpPr>
        <p:spPr>
          <a:xfrm>
            <a:off x="4786313" y="2018807"/>
            <a:ext cx="35719" cy="7143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Shape 4"/>
          <p:cNvSpPr/>
          <p:nvPr/>
        </p:nvSpPr>
        <p:spPr>
          <a:xfrm>
            <a:off x="4964906" y="2197401"/>
            <a:ext cx="357188" cy="357188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992" y="2304557"/>
            <a:ext cx="125016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4969" y="2278661"/>
            <a:ext cx="241603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75569"/>
                </a:solidFill>
              </a:rPr>
              <a:t>Dados espalhados em várias fontes</a:t>
            </a:r>
            <a:endParaRPr lang="en-US" sz="987" dirty="0"/>
          </a:p>
        </p:txBody>
      </p:sp>
      <p:sp>
        <p:nvSpPr>
          <p:cNvPr id="11" name="Shape 6"/>
          <p:cNvSpPr/>
          <p:nvPr/>
        </p:nvSpPr>
        <p:spPr>
          <a:xfrm>
            <a:off x="4786313" y="2876057"/>
            <a:ext cx="3929063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7"/>
          <p:cNvSpPr/>
          <p:nvPr/>
        </p:nvSpPr>
        <p:spPr>
          <a:xfrm>
            <a:off x="4786313" y="2876057"/>
            <a:ext cx="35719" cy="714375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Shape 8"/>
          <p:cNvSpPr/>
          <p:nvPr/>
        </p:nvSpPr>
        <p:spPr>
          <a:xfrm>
            <a:off x="4964906" y="3054651"/>
            <a:ext cx="357188" cy="357188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2063" y="3161807"/>
            <a:ext cx="142875" cy="1428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64969" y="3135911"/>
            <a:ext cx="232601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75569"/>
                </a:solidFill>
              </a:rPr>
              <a:t>Consolidação manual e demorada</a:t>
            </a:r>
            <a:endParaRPr lang="en-US" sz="987" dirty="0"/>
          </a:p>
        </p:txBody>
      </p:sp>
      <p:sp>
        <p:nvSpPr>
          <p:cNvPr id="16" name="Shape 10"/>
          <p:cNvSpPr/>
          <p:nvPr/>
        </p:nvSpPr>
        <p:spPr>
          <a:xfrm>
            <a:off x="4786313" y="3733307"/>
            <a:ext cx="3929063" cy="74652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1"/>
          <p:cNvSpPr/>
          <p:nvPr/>
        </p:nvSpPr>
        <p:spPr>
          <a:xfrm>
            <a:off x="4786313" y="3733307"/>
            <a:ext cx="35719" cy="74652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Shape 12"/>
          <p:cNvSpPr/>
          <p:nvPr/>
        </p:nvSpPr>
        <p:spPr>
          <a:xfrm>
            <a:off x="4964906" y="3927974"/>
            <a:ext cx="357188" cy="357188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9922" y="4035130"/>
            <a:ext cx="107156" cy="14287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464969" y="3911901"/>
            <a:ext cx="3071813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475569"/>
                </a:solidFill>
              </a:rPr>
              <a:t>Muito tempo operando, pouco tempo decidindo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93164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EF4444"/>
                </a:solidFill>
              </a:rPr>
              <a:t>O Custo Invisível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428625" y="1139623"/>
            <a:ext cx="392906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</a:rPr>
              <a:t>O Preço do Atraso na Informação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2248300"/>
            <a:ext cx="3929063" cy="20020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42938" y="2462612"/>
            <a:ext cx="285750" cy="28575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2541194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71563" y="2462612"/>
            <a:ext cx="273178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</a:rPr>
              <a:t>Decisões baseadas em “achismo”</a:t>
            </a:r>
            <a:endParaRPr lang="en-US" sz="1090" dirty="0"/>
          </a:p>
        </p:txBody>
      </p:sp>
      <p:sp>
        <p:nvSpPr>
          <p:cNvPr id="9" name="Text 5"/>
          <p:cNvSpPr/>
          <p:nvPr/>
        </p:nvSpPr>
        <p:spPr>
          <a:xfrm>
            <a:off x="1071563" y="2712644"/>
            <a:ext cx="273178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Falta de dados concretos leva a apostas arriscadas.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642938" y="3046614"/>
            <a:ext cx="285750" cy="28575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19" y="3125195"/>
            <a:ext cx="128588" cy="12858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1563" y="3046614"/>
            <a:ext cx="289651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</a:rPr>
              <a:t>Problemas identificados tarde demais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1071563" y="3296645"/>
            <a:ext cx="289651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Reação lenta a mudanças críticas no mercado.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642938" y="3630616"/>
            <a:ext cx="285750" cy="28575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82" y="3709197"/>
            <a:ext cx="144661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1563" y="3630616"/>
            <a:ext cx="28916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</a:rPr>
              <a:t>Perda direta de receita</a:t>
            </a:r>
            <a:endParaRPr lang="en-US" sz="1090" dirty="0"/>
          </a:p>
        </p:txBody>
      </p:sp>
      <p:sp>
        <p:nvSpPr>
          <p:cNvPr id="17" name="Text 11"/>
          <p:cNvSpPr/>
          <p:nvPr/>
        </p:nvSpPr>
        <p:spPr>
          <a:xfrm>
            <a:off x="1071563" y="3880647"/>
            <a:ext cx="289168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Oportunidades perdidas se transformam em prejuízo.</a:t>
            </a:r>
            <a:endParaRPr lang="en-US" sz="834" dirty="0"/>
          </a:p>
        </p:txBody>
      </p:sp>
      <p:sp>
        <p:nvSpPr>
          <p:cNvPr id="18" name="Shape 12"/>
          <p:cNvSpPr/>
          <p:nvPr/>
        </p:nvSpPr>
        <p:spPr>
          <a:xfrm>
            <a:off x="5143500" y="607219"/>
            <a:ext cx="3214688" cy="3929063"/>
          </a:xfrm>
          <a:prstGeom prst="rect">
            <a:avLst/>
          </a:prstGeom>
          <a:solidFill>
            <a:srgbClr val="000000">
              <a:alpha val="0"/>
            </a:srgbClr>
          </a:solidFill>
          <a:ln w="54864">
            <a:solidFill>
              <a:srgbClr val="FFFFFF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3500" y="607219"/>
            <a:ext cx="3214688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EF4444"/>
                </a:solidFill>
              </a:rPr>
              <a:t>Caso Real Recente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428625" y="675084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</a:rPr>
              <a:t>Exemplo: Queda nas Vendas de Tablets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 rot="-120000">
            <a:off x="428625" y="1436229"/>
            <a:ext cx="3929063" cy="3214688"/>
          </a:xfrm>
          <a:prstGeom prst="rect">
            <a:avLst/>
          </a:prstGeom>
          <a:solidFill>
            <a:srgbClr val="000000">
              <a:alpha val="0"/>
            </a:srgbClr>
          </a:solidFill>
          <a:ln w="54864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-120000">
            <a:off x="428625" y="1436229"/>
            <a:ext cx="3929063" cy="321468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86313" y="1855031"/>
            <a:ext cx="3929063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4"/>
          <p:cNvSpPr/>
          <p:nvPr/>
        </p:nvSpPr>
        <p:spPr>
          <a:xfrm>
            <a:off x="4786313" y="1855031"/>
            <a:ext cx="42863" cy="64293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Shape 5"/>
          <p:cNvSpPr/>
          <p:nvPr/>
        </p:nvSpPr>
        <p:spPr>
          <a:xfrm>
            <a:off x="4964906" y="2033625"/>
            <a:ext cx="285750" cy="28575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414" y="2112206"/>
            <a:ext cx="160734" cy="128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93531" y="2069343"/>
            <a:ext cx="22766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Queda não percebida a tempo</a:t>
            </a:r>
            <a:endParaRPr lang="en-US" sz="1090" dirty="0"/>
          </a:p>
        </p:txBody>
      </p:sp>
      <p:sp>
        <p:nvSpPr>
          <p:cNvPr id="12" name="Shape 7"/>
          <p:cNvSpPr/>
          <p:nvPr/>
        </p:nvSpPr>
        <p:spPr>
          <a:xfrm>
            <a:off x="4786313" y="2712281"/>
            <a:ext cx="3929063" cy="64293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8"/>
          <p:cNvSpPr/>
          <p:nvPr/>
        </p:nvSpPr>
        <p:spPr>
          <a:xfrm>
            <a:off x="4786313" y="2712281"/>
            <a:ext cx="42863" cy="64293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4" name="Shape 9"/>
          <p:cNvSpPr/>
          <p:nvPr/>
        </p:nvSpPr>
        <p:spPr>
          <a:xfrm>
            <a:off x="4964906" y="2890875"/>
            <a:ext cx="285750" cy="285750"/>
          </a:xfrm>
          <a:prstGeom prst="ellipse">
            <a:avLst/>
          </a:prstGeom>
          <a:solidFill>
            <a:srgbClr val="FEF2F2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561" y="2969456"/>
            <a:ext cx="96441" cy="12858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3531" y="2926593"/>
            <a:ext cx="102786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334155"/>
                </a:solidFill>
              </a:rPr>
              <a:t>Reação tardia</a:t>
            </a:r>
            <a:endParaRPr lang="en-US" sz="1090" dirty="0"/>
          </a:p>
        </p:txBody>
      </p:sp>
      <p:sp>
        <p:nvSpPr>
          <p:cNvPr id="17" name="Shape 11"/>
          <p:cNvSpPr/>
          <p:nvPr/>
        </p:nvSpPr>
        <p:spPr>
          <a:xfrm>
            <a:off x="4786313" y="3640968"/>
            <a:ext cx="3929063" cy="5911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Text 12"/>
          <p:cNvSpPr/>
          <p:nvPr/>
        </p:nvSpPr>
        <p:spPr>
          <a:xfrm>
            <a:off x="4964906" y="3849030"/>
            <a:ext cx="155156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>
                    <a:alpha val="90000"/>
                  </a:srgbClr>
                </a:solidFill>
              </a:rPr>
              <a:t>Impacto no faturamento</a:t>
            </a:r>
            <a:endParaRPr lang="en-US" sz="885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8273" y="3851709"/>
            <a:ext cx="128588" cy="17145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86861" y="3819562"/>
            <a:ext cx="114992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87171"/>
                </a:solidFill>
              </a:rPr>
              <a:t>Prejuízo Real</a:t>
            </a:r>
            <a:endParaRPr lang="en-US" sz="119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58338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0B981"/>
                </a:solidFill>
              </a:rPr>
              <a:t>O Novo Cenário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428625" y="1104798"/>
            <a:ext cx="392906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</a:rPr>
              <a:t>Depois: Visão Clara e Imediata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2213474"/>
            <a:ext cx="3929063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2213474"/>
            <a:ext cx="35719" cy="571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642938" y="2356349"/>
            <a:ext cx="285750" cy="28575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19" y="2434930"/>
            <a:ext cx="128588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1563" y="2392068"/>
            <a:ext cx="29406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</a:rPr>
              <a:t>Dados consolidados automaticamente</a:t>
            </a:r>
            <a:endParaRPr lang="en-US" sz="1090" dirty="0"/>
          </a:p>
        </p:txBody>
      </p:sp>
      <p:sp>
        <p:nvSpPr>
          <p:cNvPr id="10" name="Shape 6"/>
          <p:cNvSpPr/>
          <p:nvPr/>
        </p:nvSpPr>
        <p:spPr>
          <a:xfrm>
            <a:off x="428625" y="2963568"/>
            <a:ext cx="3929063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428625" y="2963568"/>
            <a:ext cx="35719" cy="571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8"/>
          <p:cNvSpPr/>
          <p:nvPr/>
        </p:nvSpPr>
        <p:spPr>
          <a:xfrm>
            <a:off x="642938" y="3106443"/>
            <a:ext cx="285750" cy="28575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519" y="3185024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1563" y="3142162"/>
            <a:ext cx="20500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</a:rPr>
              <a:t>Atualização em tempo real</a:t>
            </a:r>
            <a:endParaRPr lang="en-US" sz="1090" dirty="0"/>
          </a:p>
        </p:txBody>
      </p:sp>
      <p:sp>
        <p:nvSpPr>
          <p:cNvPr id="15" name="Shape 10"/>
          <p:cNvSpPr/>
          <p:nvPr/>
        </p:nvSpPr>
        <p:spPr>
          <a:xfrm>
            <a:off x="428625" y="3713662"/>
            <a:ext cx="3929063" cy="571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428625" y="3713662"/>
            <a:ext cx="35719" cy="571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2"/>
          <p:cNvSpPr/>
          <p:nvPr/>
        </p:nvSpPr>
        <p:spPr>
          <a:xfrm>
            <a:off x="642938" y="3856537"/>
            <a:ext cx="285750" cy="285750"/>
          </a:xfrm>
          <a:prstGeom prst="ellipse">
            <a:avLst/>
          </a:prstGeom>
          <a:solidFill>
            <a:srgbClr val="ECFDF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19" y="3935118"/>
            <a:ext cx="128588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1563" y="3892255"/>
            <a:ext cx="21668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E293B"/>
                </a:solidFill>
              </a:rPr>
              <a:t>Uma única fonte de verdade</a:t>
            </a:r>
            <a:endParaRPr lang="en-US" sz="109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607219"/>
            <a:ext cx="3929063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366F1"/>
                </a:solidFill>
              </a:rPr>
              <a:t>O Que o Dashboard Entrega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428625" y="675084"/>
            <a:ext cx="8286750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</a:rPr>
              <a:t>Indicadores que Guiam Ação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372298"/>
            <a:ext cx="4036219" cy="1564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372298"/>
            <a:ext cx="42863" cy="1564091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Shape 4"/>
          <p:cNvSpPr/>
          <p:nvPr/>
        </p:nvSpPr>
        <p:spPr>
          <a:xfrm>
            <a:off x="642938" y="1868593"/>
            <a:ext cx="571500" cy="571500"/>
          </a:xfrm>
          <a:prstGeom prst="rect">
            <a:avLst/>
          </a:prstGeom>
          <a:solidFill>
            <a:srgbClr val="EEF2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8" y="2040043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93031" y="1848780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Metas vs Realizado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1393031" y="2139888"/>
            <a:ext cx="2857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Acompanhamento em tempo real do progresso em relação aos objetivos estabelecidos.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4679156" y="1372298"/>
            <a:ext cx="4036219" cy="156411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679156" y="1372298"/>
            <a:ext cx="42863" cy="156409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Shape 9"/>
          <p:cNvSpPr/>
          <p:nvPr/>
        </p:nvSpPr>
        <p:spPr>
          <a:xfrm>
            <a:off x="4893469" y="1868593"/>
            <a:ext cx="571500" cy="57150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206" y="2040043"/>
            <a:ext cx="200025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643563" y="1848780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Performance por Vendedor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5643563" y="2139888"/>
            <a:ext cx="2857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Visão detalhada da produtividade individual para feedback e reconhecimento.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428625" y="3150729"/>
            <a:ext cx="4036219" cy="1564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428625" y="3150729"/>
            <a:ext cx="42863" cy="156411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938" y="3647052"/>
            <a:ext cx="571500" cy="571500"/>
          </a:xfrm>
          <a:prstGeom prst="rect">
            <a:avLst/>
          </a:prstGeom>
          <a:solidFill>
            <a:srgbClr val="EFF6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818502"/>
            <a:ext cx="257175" cy="2286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93031" y="3627239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Resultado por Categoria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1393031" y="3918347"/>
            <a:ext cx="2857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Análise de mix de produtos para identificar campeões de venda e gargalos.</a:t>
            </a:r>
            <a:endParaRPr lang="en-US" sz="834" dirty="0"/>
          </a:p>
        </p:txBody>
      </p:sp>
      <p:sp>
        <p:nvSpPr>
          <p:cNvPr id="23" name="Shape 17"/>
          <p:cNvSpPr/>
          <p:nvPr/>
        </p:nvSpPr>
        <p:spPr>
          <a:xfrm>
            <a:off x="4679156" y="3150729"/>
            <a:ext cx="4036219" cy="15641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18"/>
          <p:cNvSpPr/>
          <p:nvPr/>
        </p:nvSpPr>
        <p:spPr>
          <a:xfrm>
            <a:off x="4679156" y="3150729"/>
            <a:ext cx="42863" cy="156411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Shape 19"/>
          <p:cNvSpPr/>
          <p:nvPr/>
        </p:nvSpPr>
        <p:spPr>
          <a:xfrm>
            <a:off x="4893469" y="3647052"/>
            <a:ext cx="571500" cy="571500"/>
          </a:xfrm>
          <a:prstGeom prst="rect">
            <a:avLst/>
          </a:prstGeom>
          <a:solidFill>
            <a:srgbClr val="FEF2F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206" y="3818502"/>
            <a:ext cx="200025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43563" y="3627239"/>
            <a:ext cx="28575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E293B"/>
                </a:solidFill>
              </a:rPr>
              <a:t>Alertas Rápidos de Queda</a:t>
            </a:r>
            <a:endParaRPr lang="en-US" sz="1193" dirty="0"/>
          </a:p>
        </p:txBody>
      </p:sp>
      <p:sp>
        <p:nvSpPr>
          <p:cNvPr id="28" name="Text 21"/>
          <p:cNvSpPr/>
          <p:nvPr/>
        </p:nvSpPr>
        <p:spPr>
          <a:xfrm>
            <a:off x="5643563" y="3918347"/>
            <a:ext cx="2857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64748B"/>
                </a:solidFill>
              </a:rPr>
              <a:t>Notificações automáticas para anomalias e variações negativas críticas.</a:t>
            </a:r>
            <a:endParaRPr lang="en-US" sz="8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60459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10B981"/>
                </a:solidFill>
              </a:rPr>
              <a:t>Impacto no Negócio</a:t>
            </a:r>
            <a:endParaRPr lang="en-US" sz="885" dirty="0"/>
          </a:p>
        </p:txBody>
      </p:sp>
      <p:sp>
        <p:nvSpPr>
          <p:cNvPr id="4" name="Text 1"/>
          <p:cNvSpPr/>
          <p:nvPr/>
        </p:nvSpPr>
        <p:spPr>
          <a:xfrm>
            <a:off x="428625" y="1106918"/>
            <a:ext cx="3929063" cy="4114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</a:rPr>
              <a:t>Ganhos Diretos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428625" y="1804132"/>
            <a:ext cx="1893094" cy="11680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428625" y="1804132"/>
            <a:ext cx="1893094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Shape 4"/>
          <p:cNvSpPr/>
          <p:nvPr/>
        </p:nvSpPr>
        <p:spPr>
          <a:xfrm>
            <a:off x="607219" y="1982725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873" y="2061307"/>
            <a:ext cx="96441" cy="1285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7219" y="2375632"/>
            <a:ext cx="139732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Decisão mais rápida</a:t>
            </a:r>
            <a:endParaRPr lang="en-US" sz="987" dirty="0"/>
          </a:p>
        </p:txBody>
      </p:sp>
      <p:sp>
        <p:nvSpPr>
          <p:cNvPr id="10" name="Shape 6"/>
          <p:cNvSpPr/>
          <p:nvPr/>
        </p:nvSpPr>
        <p:spPr>
          <a:xfrm>
            <a:off x="2464594" y="1804132"/>
            <a:ext cx="1893094" cy="11680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7"/>
          <p:cNvSpPr/>
          <p:nvPr/>
        </p:nvSpPr>
        <p:spPr>
          <a:xfrm>
            <a:off x="2464594" y="1804132"/>
            <a:ext cx="1893094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Shape 8"/>
          <p:cNvSpPr/>
          <p:nvPr/>
        </p:nvSpPr>
        <p:spPr>
          <a:xfrm>
            <a:off x="2643188" y="1997013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732" y="2075594"/>
            <a:ext cx="144661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43188" y="2389919"/>
            <a:ext cx="153590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Menos esforço manual</a:t>
            </a:r>
            <a:endParaRPr lang="en-US" sz="987" dirty="0"/>
          </a:p>
        </p:txBody>
      </p:sp>
      <p:sp>
        <p:nvSpPr>
          <p:cNvPr id="15" name="Shape 10"/>
          <p:cNvSpPr/>
          <p:nvPr/>
        </p:nvSpPr>
        <p:spPr>
          <a:xfrm>
            <a:off x="428625" y="3100722"/>
            <a:ext cx="1893094" cy="11680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1"/>
          <p:cNvSpPr/>
          <p:nvPr/>
        </p:nvSpPr>
        <p:spPr>
          <a:xfrm>
            <a:off x="428625" y="3100722"/>
            <a:ext cx="1893094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Shape 12"/>
          <p:cNvSpPr/>
          <p:nvPr/>
        </p:nvSpPr>
        <p:spPr>
          <a:xfrm>
            <a:off x="607219" y="3293604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72185"/>
            <a:ext cx="128588" cy="1285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07219" y="3686510"/>
            <a:ext cx="1535906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Correções antecipadas</a:t>
            </a:r>
            <a:endParaRPr lang="en-US" sz="987" dirty="0"/>
          </a:p>
        </p:txBody>
      </p:sp>
      <p:sp>
        <p:nvSpPr>
          <p:cNvPr id="20" name="Shape 14"/>
          <p:cNvSpPr/>
          <p:nvPr/>
        </p:nvSpPr>
        <p:spPr>
          <a:xfrm>
            <a:off x="2464594" y="3115010"/>
            <a:ext cx="1893094" cy="11394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5"/>
          <p:cNvSpPr/>
          <p:nvPr/>
        </p:nvSpPr>
        <p:spPr>
          <a:xfrm>
            <a:off x="2464594" y="3115010"/>
            <a:ext cx="1893094" cy="2857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Shape 16"/>
          <p:cNvSpPr/>
          <p:nvPr/>
        </p:nvSpPr>
        <p:spPr>
          <a:xfrm>
            <a:off x="2643188" y="3293604"/>
            <a:ext cx="285750" cy="28575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1769" y="3372185"/>
            <a:ext cx="128588" cy="1285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643188" y="3686510"/>
            <a:ext cx="143963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E293B"/>
                </a:solidFill>
              </a:rPr>
              <a:t>Mais lucro protegido</a:t>
            </a:r>
            <a:endParaRPr lang="en-US" sz="987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607219"/>
            <a:ext cx="3929063" cy="3929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607219"/>
            <a:ext cx="3929063" cy="392906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786313" y="735109"/>
            <a:ext cx="392906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2" kern="0" dirty="0">
                <a:solidFill>
                  <a:srgbClr val="6366F1"/>
                </a:solidFill>
              </a:rPr>
              <a:t>Decisão Estratégica</a:t>
            </a:r>
            <a:endParaRPr lang="en-US" sz="885" dirty="0"/>
          </a:p>
        </p:txBody>
      </p:sp>
      <p:sp>
        <p:nvSpPr>
          <p:cNvPr id="5" name="Text 1"/>
          <p:cNvSpPr/>
          <p:nvPr/>
        </p:nvSpPr>
        <p:spPr>
          <a:xfrm>
            <a:off x="4786313" y="981568"/>
            <a:ext cx="3929063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E293B"/>
                </a:solidFill>
              </a:rPr>
              <a:t>Investir em Dados é Investir em Resultado</a:t>
            </a:r>
            <a:endParaRPr lang="en-US" sz="2436" dirty="0"/>
          </a:p>
        </p:txBody>
      </p:sp>
      <p:sp>
        <p:nvSpPr>
          <p:cNvPr id="6" name="Shape 2"/>
          <p:cNvSpPr/>
          <p:nvPr/>
        </p:nvSpPr>
        <p:spPr>
          <a:xfrm>
            <a:off x="4786313" y="2018807"/>
            <a:ext cx="3929063" cy="40898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4786313" y="2018807"/>
            <a:ext cx="28575" cy="4089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2151859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79219" y="2125963"/>
            <a:ext cx="20495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Menos achismo, mais precisão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786313" y="2570662"/>
            <a:ext cx="3929063" cy="40898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1" name="Shape 6"/>
          <p:cNvSpPr/>
          <p:nvPr/>
        </p:nvSpPr>
        <p:spPr>
          <a:xfrm>
            <a:off x="4786313" y="2570662"/>
            <a:ext cx="28575" cy="4089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2703714"/>
            <a:ext cx="142875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179219" y="2677818"/>
            <a:ext cx="225014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Tempo economizado diariamente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4786313" y="3122516"/>
            <a:ext cx="3929063" cy="40898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15" name="Shape 9"/>
          <p:cNvSpPr/>
          <p:nvPr/>
        </p:nvSpPr>
        <p:spPr>
          <a:xfrm>
            <a:off x="4786313" y="3122516"/>
            <a:ext cx="28575" cy="408980"/>
          </a:xfrm>
          <a:prstGeom prst="rect">
            <a:avLst/>
          </a:prstGeom>
          <a:solidFill>
            <a:srgbClr val="6366F1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9188" y="3255569"/>
            <a:ext cx="160734" cy="14287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97078" y="3229673"/>
            <a:ext cx="180265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Gestão orientada por fatos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4786313" y="3817246"/>
            <a:ext cx="3929063" cy="591145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2"/>
          <p:cNvSpPr/>
          <p:nvPr/>
        </p:nvSpPr>
        <p:spPr>
          <a:xfrm>
            <a:off x="5385913" y="3995840"/>
            <a:ext cx="247265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Próximo passo: Implementar</a:t>
            </a:r>
            <a:endParaRPr lang="en-US" sz="1193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5728" y="4027094"/>
            <a:ext cx="150019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2026-02-12T17:26:52Z</dcterms:created>
  <dcterms:modified xsi:type="dcterms:W3CDTF">2026-02-12T17:26:52Z</dcterms:modified>
</cp:coreProperties>
</file>